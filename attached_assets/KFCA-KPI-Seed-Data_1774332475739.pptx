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Strategic &amp; Operational KPIs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KPI Seed Data for StrategyPMO Tool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2025 Strategy Refresh KPI Updates (August 2025)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D4F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KPIs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42062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D4F6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42062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D4F6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42062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D4F6B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9536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Classification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E8F4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KPIs (19)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indicators tied directly to KFCA's 2030 strategic pillars. Reported to the Board and ExCom. Determine whether the strategy is delivering its intended outcomes.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0" y="9144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DF2E9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914400"/>
            <a:ext cx="73152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960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KPIs (23)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325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Department-level metrics tracking execution efficiency, process health, and operational performance. Monitored by department heads and PMO. Feed into strategic KPI outcomes.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Pillar / Enabler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Strategic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Operational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Customer Experience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Assets &amp; Infrastructure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Commercialization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Governance &amp; Steering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Operational Excellence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Technology &amp; Innovation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Capabilities Building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Branding &amp; Social Contribution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PS Participation &amp; Funding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 (5 KPIs)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Frequent traveler share (pax 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6.2%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6%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Cargo prepaid e-Toll adoption rate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25%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Customer Satisfaction Index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92.8%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Number of customer journey touchpoints (#)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reduc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↓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Digital toll payment uptake for pax (% pax) ★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70%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&gt;75%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&gt;75%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&gt;75%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&gt;75%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821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5021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350215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vehicles crossing &gt; 4 days/week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37581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37581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(Cargo prepaid e-toll txns / Total cargo toll txns) × 100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0142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401421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CSAT survey score (incl. NPS)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42702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427024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touchpoints (eliminated if removed for &gt;70% of traffic)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45262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14400" y="452628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pax using digital payment / Total pax × 100%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&amp; Infrastructure (5 KPIs)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Road network with iRAP &gt;= 3 stars (#)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≥4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≥4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Road network covered by automated monitoring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14.8%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Serious injuries &amp; fatalities per 1M vehicles (#)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reduc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↓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1.6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0.50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0.30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0.25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0.20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0.10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Maintenance optimization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PM55%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PM60%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PM65%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PM70%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PM70%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PM75%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Major CapEx projects executed on time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91%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92%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821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5021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350215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road segments meeting iRAP 3-star+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37581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37581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road km covered by CCTV/cameras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0142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401421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/ (Total crossings / 1M)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42702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427024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PM% vs CM%. Target: PM 75% / CM 25%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45262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14400" y="452628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CAPEX strategic projects on time / Total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Commercialization (4 KPIs)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11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Total revenue (SAR) (with toll increase)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553M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500M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540M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580M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620M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700M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780M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Non-toll revenue (SAR)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35M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90M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110M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130M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170M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200M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Liquidity ratio (times)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1.12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1-2x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1-2x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1-2x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1-2x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1-2x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1-2x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Annual investment rate of return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6.37%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4.5%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3.5%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3.5%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3.5%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3.5%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3.5%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34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revenue incl. toll fees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3410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34107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non-toll sources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36667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366674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assets / Current liabilities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39227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392277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(Investment income + gains) / Avg capital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Steering (7 KPIs)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Projects executed on time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Annual internal audit plan completion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63%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≥80%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≥85%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Internal audit maturity index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≥80%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≥85%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Vacant positions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↓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≤5%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≤5%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≤5%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≤5%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≤5%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≤5%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19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Compliance with SLAs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91%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77%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81%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88%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91%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Stakeholder satisfaction index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94.8%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86%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89%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91%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21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GRC maturity index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60%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770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970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41970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on time / Total completed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44531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44531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audits / Planned audits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470916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capability maturity assessment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49651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496519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Vacant / Total approved positions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5221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14400" y="522122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 met / Total SLAs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54772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914400" y="5477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avg stakeholder survey score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7200" y="57332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914400" y="573328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maturity assessment score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 (6 KPIs)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22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CapEx budget execution rate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79%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23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EBITDA margin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45%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Peak crossing time for pax (min.)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reduc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↓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20:54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High peak crossing time for pax (min.)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reduc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↓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40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32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Average crossing time for cargo (hrs)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reduc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↓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1:29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2.5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2.5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Cargo slot mgmt. on-time performance (%) ★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8496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384962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CapEx / Approved CapEx budget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41056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41056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/ Total Revenue × 100%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3616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436168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toll-to-exit time during peak hours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46177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461772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toll-to-exit time during highest traffic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48737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14400" y="487375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cargo entry-to-exit incl. processing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51297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914400" y="51297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at booked slot / Total dispatched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Innovation (6 KPIs)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TMS use cases accuracy adherence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Digitization across journey touchpoints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13%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48%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85%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Internal processes digitized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60.2%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38%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47%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31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Compliance to NCA requirements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98.2%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≥90%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≥90%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32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Digital transformation maturity index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TBD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TBD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Mobile app revenues (JESR) (SAR) ★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3.6M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4.7M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5.7M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6.7M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6.8M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8496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384962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TMS use cases meeting accuracy / 25 total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41056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41056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touchpoints digitized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3616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436168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Digitized processes / Total processes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46177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461772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 compliance assessment score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48737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14400" y="487375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 — framework to be defined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51297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914400" y="51297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Revenues from JESR app exclusively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Building (5 KPIs)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33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Organizational health index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79%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81%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87%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Employee retention rate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99%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92%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92%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Successor readiness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40%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90%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Workforce with fulfilled training plan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84%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55%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65%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75%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Employee attrition rate (%) ★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rate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↓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4%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4%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821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5021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350215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OHI survey score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37581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37581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(Total - Voluntary departures) / Total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0142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401421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critical roles with ready successor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42702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427024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with completed plan / Total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45262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14400" y="452628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departures / Total employees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Social Contribution (3 KPIs)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OPS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Marketing events to strengthen brand (#)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39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Environmental footprint reduction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8%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12%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15%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40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Compliance to Universal Accessibility (%)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54.6%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57%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63%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70%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77%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83%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90%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487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807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28072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events/campaigns per year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306324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carbon footprint reduction vs baseline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33192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33192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facilities meeting UAG standards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Participation &amp; Funding (1 KPIs)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2743200"/>
                <a:gridCol w="548640"/>
                <a:gridCol w="365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S/O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41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STR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Private sector concession fees (SAR)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cumul</a:t>
                      </a:r>
                      <a:endParaRPr lang="en-US" sz="6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↑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10.8M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16.5M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26M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42.5M</a:t>
                      </a:r>
                      <a:endParaRPr lang="en-US" sz="7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60M</a:t>
                      </a:r>
                      <a:endParaRPr lang="en-US" sz="8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17922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1122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14400" y="211226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revenue from all concessions (incl. MAG)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Data → StrategyPMO Mapping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PDF Field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→ Database Column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KPI name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spmo_kpis.name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Exact names from the KPI PDF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Strategic / Operational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spmo_kpis.type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'strategic' or 'operational'. STR = blue rows. OPS = orange rows.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KPI type (rate/cumulative/reduction)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spmo_kpis.kpiType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Determines which KPI engine algorithm runs (velocity, proportional pace, etc.)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Direction (↑ higher / ↓ lower)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spmo_kpis.direction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'higher' = green when increasing. 'lower' = green when decreasing.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Calculation methodology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spmo_kpis.formula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New field from KPI detail card spec. Shows how KPI is calculated.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2024 Actual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spmo_kpis.baseline + spmo_kpis.actual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Latest known value. Both baseline and actual set to 2024 value.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2026 target (current year)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spmo_kpis.target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The primary target the KPI engine evaluates against.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2026-2030 targets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spmo_kpis.target_2026 through target_2030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Multi-year trajectory shown in KPI detail card.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Pillar / Enabler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spmo_kpis.pillarId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Resolve by matching pillar name.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Measurement frequency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spmo_kpis.measurementPeriod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annual, quarterly, or monthly per KPI.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 New KPI marker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(informational only)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 KPIs new in 2025 refresh: #5, #27, #37, #42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KPI Seed Data for StrategyPMO · Page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KFCA KPIs — Seed Data for StrategyPMO</dc:title>
  <dc:subject>PptxGenJS Presentation</dc:subject>
  <dc:creator>StrategyPMO</dc:creator>
  <cp:lastModifiedBy>StrategyPMO</cp:lastModifiedBy>
  <cp:revision>1</cp:revision>
  <dcterms:created xsi:type="dcterms:W3CDTF">2026-03-24T04:32:49Z</dcterms:created>
  <dcterms:modified xsi:type="dcterms:W3CDTF">2026-03-24T04:32:49Z</dcterms:modified>
</cp:coreProperties>
</file>