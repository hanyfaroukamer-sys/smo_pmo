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Corporate Strategy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Data — 3 Pillars + 6 Enablers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Projects · 965 Milestones · 42 KPIs · All with Exact Dates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4572000" cy="2011680"/>
          </a:xfrm>
          <a:prstGeom prst="roundRect">
            <a:avLst>
              <a:gd name="adj" fmla="val 4545"/>
            </a:avLst>
          </a:prstGeom>
          <a:solidFill>
            <a:srgbClr val="0D4F6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PILLARS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40690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Board-level strategic themes.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KFCA delivers.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Experience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Assets &amp; 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Commercialization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5349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pillars · 9 initiatives · 40 projects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0" y="365760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0D4F6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40690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capabilities.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HOW KFCA delivers.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Governance &amp; Steering  • Op. Excellence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Technology &amp; Innovation  • Capabilities Building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Branding &amp; Social  • PS Participation &amp; Funding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5349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enablers · 17 initiatives · 60 projects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Structure — Pillars vs Enablers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10058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1097280"/>
                <a:gridCol w="1097280"/>
                <a:gridCol w="3566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Initiatives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Projects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Database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PILLAR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Customer Experience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spmo_pillars (pillar_type='pillar')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PILLAR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Assets &amp; Infrastructure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spmo_pillars (pillar_type='pillar')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PILLAR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Commercialization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spmo_pillars (pillar_type='pillar')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ENABLER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Governance &amp; Steering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spmo_pillars (pillar_type='enabler')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ENABLER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Operational Excellence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spmo_pillars (pillar_type='enabler')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ENABLER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Technology &amp; Innovation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spmo_pillars (pillar_type='enabler')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ENABLER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Capabilities Building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spmo_pillars (pillar_type='enabler')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ENABLER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Branding &amp; Social Contribution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spmo_pillars (pillar_type='enabler')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ENABLER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PS Participation &amp; Funding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spmo_pillars (pillar_type='enabler')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All in spmo_pillars with pillar_type column</a:t>
                      </a:r>
                      <a:endParaRPr lang="en-US" sz="7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pillars and enablers are stored in the same spmo_pillars table. A pillar_type column ('pillar' or 'enabler') distinguishes them. The computation engine treats them identically — progress cascades the same way. The only difference is visual: the dashboard groups pillars separately from enablers, and the strategy map shows pillars as main columns with enablers as a supporting row below.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and infrastructure — 22 projects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822960"/>
                <a:gridCol w="822960"/>
                <a:gridCol w="822960"/>
                <a:gridCol w="548640"/>
                <a:gridCol w="5486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Meet iRAP requirements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Operations and M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O. Aldahash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2023-11-22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2024-08-18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Automated equipment coverage (CCTV)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B. Alruwaili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2023-10-10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2025-09-13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Cargo journey optimization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Bumteia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2023-12-15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2026-05-15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97706"/>
                          </a:solidFill>
                        </a:rPr>
                        <a:t>82%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Delayed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Road assessment technologies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Operations and M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F. Yusuf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2023-11-29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2025-07-17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P7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Road and Facility Asset Management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M. Albutery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2024-08-08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2025-07-17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60%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P9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Traffic monitoring and forecasting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2026-07-01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2026-07-01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40%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P10A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Enhancement of terminals &amp; access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M. Salmeen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2023-12-10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2024-08-28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P10B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Enhancement of customer terminals &amp;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A.Nimshan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2026-12-27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49%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P11A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Central Island master plan - Phase 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Bumatia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2024-03-12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P11B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Central Island master plan - Phase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Alsaif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2026-03-31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9%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P11C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Central island Phase‑2 - Power and 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M. Mahfouz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2026-12-31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23%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P11D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Central island Phase‑2 - Govt build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P11E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Central island Phase‑2 - Cargo sepa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P11F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Central island Phase‑2 - Procedure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P11H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Central island Phase‑2 – Commercial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KSA remote island master plan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Alsaif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2026-07-09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7%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gridSpan="10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i="1" dirty="0">
                          <a:solidFill>
                            <a:srgbClr val="64748B"/>
                          </a:solidFill>
                        </a:rPr>
                        <a:t>... +6 more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and social contribution — 4 projects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822960"/>
                <a:gridCol w="822960"/>
                <a:gridCol w="822960"/>
                <a:gridCol w="548640"/>
                <a:gridCol w="5486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P75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Brand marketing and social media pr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S. Marzooq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2025-01-07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P76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ESG strategy development and execut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B. Alturki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2024-02-05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2025-09-08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60%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P77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Universal Accessibility Guidelines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H.Hamed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2025-06-07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2026-05-07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16%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40%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E6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Women empowerment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2026-05-01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 — 9 projects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822960"/>
                <a:gridCol w="822960"/>
                <a:gridCol w="822960"/>
                <a:gridCol w="548640"/>
                <a:gridCol w="5486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P65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Intranet system engagement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S. Marzooq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2025-12-29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97706"/>
                          </a:solidFill>
                        </a:rPr>
                        <a:t>62%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P66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Employee/organizational health inde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2026-05-01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P67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Yearly training plans linked to com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O. Al-Shubli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2025-04-01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2026-01-30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P68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Revised employee value proposition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P69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Clear career development paths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2027-08-01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P71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Inclusion and diversity efforts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O. Al-Shubli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2025-07-07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2026-06-30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24%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P72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University partnerships to attract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2026-08-01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2027-05-01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P73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Global/regional operator exchanges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2024-07-01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2026-06-12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45%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E5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Leadership development program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2026-05-01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2026-08-01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Commercialization — 10 projects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822960"/>
                <a:gridCol w="822960"/>
                <a:gridCol w="822960"/>
                <a:gridCol w="548640"/>
                <a:gridCol w="5486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P25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Dynamic pricing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2029-01-01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2029-01-01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P27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Tolling packages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S. Marzooq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P28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Digital payments incentivization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2024-04-02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2025-12-13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40%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P30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Data monetization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2026-04-01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2028-06-01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P31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Conservative comm. offerings expans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Alrayes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2023-04-02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2024-04-11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Central island commercial developme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2026-07-01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2026-07-01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P33A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Digital advertising (physical board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2025-12-16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P34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Bonded zone/SEZ feasibility study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P35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Investment optimization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Finance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Almaghlou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2024-07-03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2025-01-30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P80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Commercial B2B program study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2024-07-01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2024-07-01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24%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E8590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 — 8 projects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822960"/>
                <a:gridCol w="822960"/>
                <a:gridCol w="822960"/>
                <a:gridCol w="548640"/>
                <a:gridCol w="5486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P19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Trusted traveler program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Operations and M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 Shrhan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P20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Fast lane construction &amp; optimizati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Operations and M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O. Aldahash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2024-07-29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P21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Customer journey optimization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Operations and M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2024-01-04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2026-11-30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97706"/>
                          </a:solidFill>
                        </a:rPr>
                        <a:t>64%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Customer journey mapping &amp; optimiza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Operations and M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M. Fattah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2023-10-15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2024-02-15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P23A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Customer care centralization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B. AlTurki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2024-05-12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2025-07-31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P24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Customer satisfaction survey optimi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S. Marzooq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2024-04-01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2026-01-05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P92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Enhance CX &amp; gauge customer sentime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P23B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Customer Care Centralization Phase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2026-10-01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2026-10-01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steering — 17 projects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822960"/>
                <a:gridCol w="822960"/>
                <a:gridCol w="822960"/>
                <a:gridCol w="548640"/>
                <a:gridCol w="5486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P36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Strategy communication plan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2023-10-10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2025-02-28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P37A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Revision of internal policies, proc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GRC and cybersec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Alhamrani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2023-12-10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2025-09-30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P37B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Revision of internal policies, proc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GRC and cybersec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M. Alotaibi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2025-09-30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4%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P38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Organization structure revamp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N. Almutairi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2023-06-15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2024-05-22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P39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Strategy execution governance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2023-08-01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2024-12-19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with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P40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Organizational business continuity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GRC and cybersec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Alhamrani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2026-10-01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6%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P41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External governance model revamp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Operations and M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O. Aldahash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2024-01-28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2025-07-17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P42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Revision of bilateral agreement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Legal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2026-10-01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2026-10-01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Enterprise Risk Management (ERM)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GRC and cybersec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M. Alotaibi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2025-12-18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P83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Enterprise Compliance Management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GRC and cybersec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2026-10-01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6%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P85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Achieve cyber security excellence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GRC and cybersec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Bazaid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2025-12-29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97706"/>
                          </a:solidFill>
                        </a:rPr>
                        <a:t>89%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P86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Foster cybersecurity defense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GRC and cybersec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Bazaid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2025-12-29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Closing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97706"/>
                          </a:solidFill>
                        </a:rPr>
                        <a:t>98%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P87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Establish robust cybersecurity resi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GRC and cybersec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Bazaid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2025-12-29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97706"/>
                          </a:solidFill>
                        </a:rPr>
                        <a:t>92%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P88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Establish data management office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L. Basri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2024-05-02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2025-10-08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P91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Enhance DMO Compliance integration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L. Basri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2026-02-15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6%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E1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Environmental Sustainability standa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Alsaif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Planning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1%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6%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gridSpan="10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i="1" dirty="0">
                          <a:solidFill>
                            <a:srgbClr val="64748B"/>
                          </a:solidFill>
                        </a:rPr>
                        <a:t>... +1 more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 — 9 projects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822960"/>
                <a:gridCol w="822960"/>
                <a:gridCol w="822960"/>
                <a:gridCol w="548640"/>
                <a:gridCol w="5486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P43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Outsourcing contracts revision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2026-08-01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P44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Financial controlling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Finance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A.AlQahtani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2024-09-01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2025-07-17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P45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Incentive schemes to optimize on‑th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2024-11-03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2026-01-30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P46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Traveler pre-registration (Pax)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Alghamdi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2023-06-01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2023-06-01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P47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Pre-clearance support (Cargo)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Operations and M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M. Fattah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P81A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Toll gate expansion KSA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A.Nimshan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2027-01-30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P81B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Toll gate expansion BAH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P84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Fixed assets tagging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Finance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I. Aloujail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2024-09-02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2025-07-17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E7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Supply Chain excellence in ESG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2026-09-01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sector participation and funding — 2 projects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822960"/>
                <a:gridCol w="822960"/>
                <a:gridCol w="822960"/>
                <a:gridCol w="548640"/>
                <a:gridCol w="5486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P78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Private Sector involvement opportun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CX and Commercia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2027-08-01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P79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Corporatization readiness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Strategy and Ena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2026-10-01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2027-06-01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innovation — 19 projects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822960"/>
                <a:gridCol w="822960"/>
                <a:gridCol w="822960"/>
                <a:gridCol w="548640"/>
                <a:gridCol w="5486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P50A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TMS &amp; real-time performance dashboa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Alghamdi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2024-04-30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P50B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TMS &amp; real-time performance monitor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M. Albutery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2025-03-20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2028-11-16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9%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P51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Staffing deployment linked to TMS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Operations and M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2027-04-01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2027-04-01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Dynamic messaging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2026-10-01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2027-09-01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P53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Digital innovation hub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M. Albutery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2027-09-01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P54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Enhanced data analytics leveraging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R. Rushood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2024-04-15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2025-11-08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45%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P55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Digital crossings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2027-12-31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P56A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"One-stop shop" mobile app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Shareeda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2023-06-01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2024-11-30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P56B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JESR app revamp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T.Alrammah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2026-04-01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2030-12-01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P58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Digitization of internal processes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2026-04-01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27%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P59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ERP system enhancement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T.Alrammah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2023-08-01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2025-07-17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P60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Optimize ITSM processes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Shareeda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2026-03-01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2026-09-01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Planning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891B2"/>
                          </a:solidFill>
                        </a:rPr>
                        <a:t>1%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27%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P61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Cybersecurity and data protection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GRC and cybersec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A. Bazaid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2023-11-01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2027-07-12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97706"/>
                          </a:solidFill>
                        </a:rPr>
                        <a:t>66%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P62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IT network infrastructure upgrade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2026-06-01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2030-10-01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P63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IT business continuity and Disaster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B. Alruwaili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2024-03-03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2025-06-14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F172A"/>
                          </a:solidFill>
                        </a:rPr>
                        <a:t>P64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Optimize data centers availability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Technology and 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00" dirty="0">
                          <a:solidFill>
                            <a:srgbClr val="64748B"/>
                          </a:solidFill>
                        </a:rPr>
                        <a:t>B. Alruwaili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2024-02-18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F172A"/>
                          </a:solidFill>
                        </a:rPr>
                        <a:t>2025-07-17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16A34A"/>
                          </a:solidFill>
                        </a:rPr>
                        <a:t>Completed on t</a:t>
                      </a:r>
                      <a:endParaRPr lang="en-US" sz="5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gridSpan="10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i="1" dirty="0">
                          <a:solidFill>
                            <a:srgbClr val="64748B"/>
                          </a:solidFill>
                        </a:rPr>
                        <a:t>... +3 more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Replit: Pillar vs Enabler Implementation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CHANGE: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spmo_pillars ADD COLUMN IF NOT EXISTS pillar_type TEXT DEFAULT 'pillar';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CHECK (pillar_type IN ('pillar', 'enabler'))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SCHEMA UPDATE: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spmo.ts, add to spmoPillarsTable: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pillarType: text('pillar_type', { enum: ['pillar', 'enabler'] }).notNull().default('pillar'),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CHANGES: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Dashboard: Group 'Strategic Pillars' (3) separately from 'Enablers' (6) with section headers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Strategy Map: Show pillars as primary columns with enablers as supporting row below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Pillars page: Add a type badge ('PILLAR' blue / 'ENABLER' amber) next to each name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Sidebar: 'Pillars' link renamed to 'Pillars &amp; Enablers' or keep as is with grouping inside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Executive PDF/PPTX reports: Show pillars first, enablers second with clear labels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 ENGINE: NO CHANGES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calcProgress, computeStatus, computeInitiativeStatus all work identically for both.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progress = simple average across all 9 (pillars + enablers) — same as before.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difference is visual grouping and labelling.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DATA FILES: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KFCA-SEED-DATA.ts — pillarsAndEnablers array with pillarType field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KFCA-KPI-SEED-DATA.ts — KPIs reference pillar names (resolve to ID same way)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Both files use the same pillar names — just add pillar_type on insert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Seed Data (Pillars &amp; Enablers) · Page 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KFCA Seed Data — Pillars &amp; Enablers</dc:title>
  <dc:subject>PptxGenJS Presentation</dc:subject>
  <dc:creator>PptxGenJS</dc:creator>
  <cp:lastModifiedBy>PptxGenJS</cp:lastModifiedBy>
  <cp:revision>1</cp:revision>
  <dcterms:created xsi:type="dcterms:W3CDTF">2026-03-24T05:01:47Z</dcterms:created>
  <dcterms:modified xsi:type="dcterms:W3CDTF">2026-03-24T05:01:47Z</dcterms:modified>
</cp:coreProperties>
</file>