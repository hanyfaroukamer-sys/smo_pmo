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Corporate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Seed Data for StrategyPMO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Strategy PDF (Nov 2025) + Project Tracker Excel (Mar 2026)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Projects · 26 Initiatives · 9 Pillars · 10 Departments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 Milestones with Weights · Project &amp; Initiative Weights Included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Data · Risk Register · Dependency Matrices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0058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Projects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05840"/>
            <a:ext cx="64008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0584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235440" y="100584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100584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4183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Due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94560"/>
            <a:ext cx="64008" cy="10058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2194560"/>
            <a:ext cx="6400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6616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Hold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19456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3544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0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35440" y="2194560"/>
            <a:ext cx="64008" cy="100584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4" name="Text 32"/>
          <p:cNvSpPr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4183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Progress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&amp; Infrastructure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0" y="4014216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39" name="Shape 37"/>
          <p:cNvSpPr/>
          <p:nvPr/>
        </p:nvSpPr>
        <p:spPr>
          <a:xfrm>
            <a:off x="3200400" y="4014216"/>
            <a:ext cx="1874520" cy="18288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10881360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00400" y="4315968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0" y="4315968"/>
            <a:ext cx="4948733" cy="182880"/>
          </a:xfrm>
          <a:prstGeom prst="roundRect">
            <a:avLst>
              <a:gd name="adj" fmla="val 25000"/>
            </a:avLst>
          </a:prstGeom>
          <a:solidFill>
            <a:srgbClr val="E8590C"/>
          </a:solidFill>
          <a:ln/>
        </p:spPr>
      </p:sp>
      <p:sp>
        <p:nvSpPr>
          <p:cNvPr id="44" name="Text 42"/>
          <p:cNvSpPr/>
          <p:nvPr/>
        </p:nvSpPr>
        <p:spPr>
          <a:xfrm>
            <a:off x="10881360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581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00400" y="4617720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47" name="Shape 45"/>
          <p:cNvSpPr/>
          <p:nvPr/>
        </p:nvSpPr>
        <p:spPr>
          <a:xfrm>
            <a:off x="3200400" y="4617720"/>
            <a:ext cx="1724558" cy="18288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10881360" y="45811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" y="4882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Steering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00400" y="4919472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0" y="4919472"/>
            <a:ext cx="5173675" cy="18288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10881360" y="48828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7200" y="5184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200400" y="5221224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55" name="Shape 53"/>
          <p:cNvSpPr/>
          <p:nvPr/>
        </p:nvSpPr>
        <p:spPr>
          <a:xfrm>
            <a:off x="3200400" y="5221224"/>
            <a:ext cx="4123944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10881360" y="51846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5486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Innovation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00400" y="5522976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0400" y="5522976"/>
            <a:ext cx="2474366" cy="18288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60" name="Text 58"/>
          <p:cNvSpPr/>
          <p:nvPr/>
        </p:nvSpPr>
        <p:spPr>
          <a:xfrm>
            <a:off x="10881360" y="54864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7200" y="5788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200400" y="5824728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63" name="Shape 61"/>
          <p:cNvSpPr/>
          <p:nvPr/>
        </p:nvSpPr>
        <p:spPr>
          <a:xfrm>
            <a:off x="3200400" y="5824728"/>
            <a:ext cx="1874520" cy="18288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64" name="Text 62"/>
          <p:cNvSpPr/>
          <p:nvPr/>
        </p:nvSpPr>
        <p:spPr>
          <a:xfrm>
            <a:off x="10881360" y="57881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57200" y="6089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Social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200400" y="6126480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67" name="Shape 65"/>
          <p:cNvSpPr/>
          <p:nvPr/>
        </p:nvSpPr>
        <p:spPr>
          <a:xfrm>
            <a:off x="3200400" y="6126480"/>
            <a:ext cx="6823253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68" name="Text 66"/>
          <p:cNvSpPr/>
          <p:nvPr/>
        </p:nvSpPr>
        <p:spPr>
          <a:xfrm>
            <a:off x="10881360" y="60899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57200" y="6391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Participation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00400" y="6428232"/>
            <a:ext cx="7498080" cy="182880"/>
          </a:xfrm>
          <a:prstGeom prst="roundRect">
            <a:avLst>
              <a:gd name="adj" fmla="val 25000"/>
            </a:avLst>
          </a:prstGeom>
          <a:solidFill>
            <a:srgbClr val="E8ECF1"/>
          </a:solidFill>
          <a:ln/>
        </p:spPr>
      </p:sp>
      <p:sp>
        <p:nvSpPr>
          <p:cNvPr id="71" name="Shape 69"/>
          <p:cNvSpPr/>
          <p:nvPr/>
        </p:nvSpPr>
        <p:spPr>
          <a:xfrm>
            <a:off x="3200400" y="6428232"/>
            <a:ext cx="45720" cy="182880"/>
          </a:xfrm>
          <a:prstGeom prst="roundRect">
            <a:avLst>
              <a:gd name="adj" fmla="val 100000"/>
            </a:avLst>
          </a:prstGeom>
          <a:solidFill>
            <a:srgbClr val="6366F1"/>
          </a:solidFill>
          <a:ln/>
        </p:spPr>
      </p:sp>
      <p:sp>
        <p:nvSpPr>
          <p:cNvPr id="72" name="Text 70"/>
          <p:cNvSpPr/>
          <p:nvPr/>
        </p:nvSpPr>
        <p:spPr>
          <a:xfrm>
            <a:off x="10881360" y="63916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Portfolio Summary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9144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097280"/>
                <a:gridCol w="109728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Exec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Past Due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Technology and Digitalization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Projects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Strategy and Enablement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CX and Commercial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GRC and cybersecurity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Shared Services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Operations and Maintenance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Finance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Legal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891B2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and infrastructure (22 projects)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Meet iRAP requirements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Automated equipment coverage (CCTV)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B. Alruwaili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Cargo journey optimization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Bumteia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82%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Delayed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Road assessment technologies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F. Yusuf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Road and Facility Asset Management Sys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60%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Traffic monitoring and forecasting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P10A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Enhancement of terminals &amp; access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Salmeen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P10B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Enhancement of customer terminals &amp; ac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A.Nimshan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49%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master plan - Phase 1 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Bumatia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master plan - Phase 2 d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Alsaif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9%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P11C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Phase‑2 - Power and inf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Mahfouz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23%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P11D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Phase‑2 - Govt building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Phase‑2 - Cargo separat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P11F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Phase‑2 - Procedure are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P11H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Phase‑2 – Commercial ar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4748B"/>
                          </a:solidFill>
                        </a:rPr>
                        <a:t>... +7 more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and social contribution (4 projects)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Brand marketing and social media prese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ESG strategy development and execution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B. Alturki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60%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Universal Accessibility Guidelines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H.Hamed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16%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E6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Women empowerment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 (9 projects)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Intranet system engagement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62%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Employee/organizational health index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Yearly training plans linked to compet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O. Al-Shubli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Revised employee value proposition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Clear career development paths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Inclusion and diversity efforts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O. Al-Shubli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24%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University partnerships to attract tal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P73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Global/regional operator exchanges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45%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E5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Leadership development program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Commercialization (10 projects)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Dynamic pricing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Tolling packages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Digital payments incentivization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P30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Data monetization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Conservative comm. offerings expansion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Alrayes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Central island commercial development 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P33A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Digital advertising (physical board)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P34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Bonded zone/SEZ feasibility study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Investment optimization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Almaghlou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P80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Commercial B2B program study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24%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9%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 (8 projects)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P19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Trusted traveler program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 Shrhan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P20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Fast lane construction &amp; optimization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journey optimization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64%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journey mapping &amp; optimizatio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Fattah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P23A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care centralization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B. AlTurki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P24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satisfaction survey optimizat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S. Marzooq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P92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Enhance CX &amp; gauge customer sentiment 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P23B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Customer Care Centralization Phase 2: 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steering (17 projects)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Strategy communication plan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P37A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Revision of internal policies, process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Alhamrani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P37B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Revision of internal policies, process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Alotaibi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Organization structure revamp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N. Almutairi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P39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Strategy execution governance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with 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P40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Organizational business continuity Man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Alhamrani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External governance model revamp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O. Aldahash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Revision of bilateral agreement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Legal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Enterprise Risk Management (ERM)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Alotaibi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P83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Enterprise Compliance Management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Achieve cyber security excellence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89%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Foster cybersecurity defense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Closing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98%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Establish robust cybersecurity resilie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92%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Establish data management office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L. Basri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P91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Enhance DMO Compliance integration &amp; 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L. Basri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5%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4748B"/>
                          </a:solidFill>
                        </a:rPr>
                        <a:t>... +2 more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 (9 projects)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P43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Outsourcing contracts revision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P44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Financial controlling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A.AlQahtani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Incentive schemes to optimize on‑the-g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P46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Traveler pre-registration (Pax)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Alghamdi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P47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Pre-clearance support (Cargo)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Fattah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11%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P81A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Toll gate expansion KSA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A.Nimshan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10%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P81B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Toll gate expansion BAH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Projects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6%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P84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Fixed assets tagging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Finance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I. Aloujail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E7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Supply Chain excellence in ESG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Shared services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sector participation and funding (2 projects)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Private Sector involvement opportuniti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CX and Commercial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P79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Corporatization readiness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Strategy and Enabl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 Mofarrij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100%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828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innovation (19 projects)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005840"/>
                <a:gridCol w="1005840"/>
                <a:gridCol w="822960"/>
                <a:gridCol w="822960"/>
                <a:gridCol w="8229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Actual 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Init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Dept Wt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P50A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TMS &amp; real-time performance dashboard 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Alghamdi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P50B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TMS &amp; real-time performance monitoring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9%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Staffing deployment linked to TMS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Operations and Mai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Dynamic messaging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P53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Digital innovation hub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M. Albutery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P54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Enhanced data analytics leveraging big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R. Rushood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45%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50%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On Hold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P55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Digital crossings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10%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P56A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"One-stop shop" mobile app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Shareeda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P56B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JESR app revamp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T.Alrammah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33%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P58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Digitization of internal processes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P59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ERP system enhancement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T.Alrammah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P60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Optimize ITSM processes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Shareeda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891B2"/>
                          </a:solidFill>
                        </a:rPr>
                        <a:t>1%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27%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P61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Cybersecurity and data protection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GRC and cybersecur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A. Bazaid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</a:rPr>
                        <a:t>66%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DC2626"/>
                          </a:solidFill>
                        </a:rPr>
                        <a:t>Past due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P62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IT network infrastructure upgrade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TBD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Not started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</a:rPr>
                        <a:t>P63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</a:rPr>
                        <a:t>IT business continuity and Disaster Re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Technology and Dig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B. Alruwaili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6A34A"/>
                          </a:solidFill>
                        </a:rPr>
                        <a:t>Completed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</a:rPr>
                        <a:t>100%</a:t>
                      </a:r>
                      <a:endParaRPr lang="en-US" sz="8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C3AED"/>
                          </a:solidFill>
                        </a:rPr>
                        <a:t>5%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</a:rPr>
                        <a:t>Completed on tim</a:t>
                      </a:r>
                      <a:endParaRPr lang="en-US" sz="6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i="1" dirty="0">
                          <a:solidFill>
                            <a:srgbClr val="64748B"/>
                          </a:solidFill>
                        </a:rPr>
                        <a:t>... +4 more</a:t>
                      </a:r>
                      <a:endParaRPr lang="en-US" sz="7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Milestone/Activity Weights — Sample Projects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 milestones extracted from 9 department sheets. Each has a weight (%) that sums to 100% per project. These map to spmo_milestones.weight in the tool.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P5: 35 activities, total weight: 100%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Produce site inspection report 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Develop concept design and area 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Prepare RFP draft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Receive RFP approval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Release RFP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Receive bidders' proposals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Evaluate bidders' proposals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Award best bidder and sign contr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0 - Mobilization &amp; site pr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1 - Demolishing and Remova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1%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1 - New Custom Building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1 - New Storage Building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1 - Loading Dock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8%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Phase 1 - Precast Boundary Wall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i="1" dirty="0">
                          <a:solidFill>
                            <a:srgbClr val="64748B"/>
                          </a:solidFill>
                        </a:rPr>
                        <a:t>+21 more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P85: 10 activities, total weight: 100%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Wt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Prog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Define project scope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Planning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Create RFP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Provide vendor list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Tendering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Identify awarded vendor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Upgrade/renewal SOC with monitor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40%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Initiate innovation pilot projec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25%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Trained SOC personnel on new too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Execution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Real-time dashboards and analyti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Closing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Submit final milestone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3%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64748B"/>
                          </a:solidFill>
                        </a:rPr>
                        <a:t>Closing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0F172A"/>
                          </a:solidFill>
                        </a:rPr>
                        <a:t>Submit closure and final sign-of</a:t>
                      </a:r>
                      <a:endParaRPr lang="en-US" sz="6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6B93"/>
                          </a:solidFill>
                        </a:rPr>
                        <a:t>2%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64748B"/>
                          </a:solidFill>
                        </a:rPr>
                        <a:t>0%</a:t>
                      </a:r>
                      <a:endParaRPr lang="en-US" sz="7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Mapping &amp; Replit Instructions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7315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Source Data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→ Tool Entity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Pillars + Enablers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spmo_pillars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name, color, weight, sortOrder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Initiatives (I-01 → I-26)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spmo_initiatives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pillarId, code, name, dates, budget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Projects (P1–P93 + E1–E8)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spmo_projects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initiativeId, deptId, PM, dates, budget, budgetSpent, weight (initiative_weight)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Activities (dept sheets)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spmo_milestones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965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projectId, name, phase, weight, effortDays, progress, responsible, dates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Project initiative_weight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project.weight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Determines how much a project contributes to its initiative's progress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Activity weight (%)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milestone.weight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957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Sum to 100% per project. Determines milestone contribution to project progress.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Departments (10)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spmo_departments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Tech, Strategy, CX, GRC, Ops, Projects, Finance, Services, Legal, Shared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Risks (RR_Backlog)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spmo_risks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~2100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riskId, project, description, likelihood, impact, level, mitigation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Dependencies (4.x sheets)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spmo_dependencies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~50+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Initiative S/D matrix + Project S/D matrix</a:t>
                      </a:r>
                      <a:endParaRPr lang="en-US" sz="8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WEIGHT MAPPING: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project.weight = initiative_weight from Projects List col 16 (how much project counts toward initiative)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milestone.weight = activity weight from dept sheets col 14 (how much milestone counts toward project)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calcProgress engine uses these weights: milestone→project (milestone.weight), project→initiative (project.weight as budget proxy)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KFCA StrategyPMO Complete Seed Data · Page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KFCA — Complete Seed Data with Weights</dc:title>
  <dc:subject>PptxGenJS Presentation</dc:subject>
  <dc:creator>StrategyPMO</dc:creator>
  <cp:lastModifiedBy>StrategyPMO</cp:lastModifiedBy>
  <cp:revision>1</cp:revision>
  <dcterms:created xsi:type="dcterms:W3CDTF">2026-03-24T02:32:22Z</dcterms:created>
  <dcterms:modified xsi:type="dcterms:W3CDTF">2026-03-24T02:32:22Z</dcterms:modified>
</cp:coreProperties>
</file>